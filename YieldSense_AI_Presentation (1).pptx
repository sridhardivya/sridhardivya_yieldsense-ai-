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884" y="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(t/ha)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5F2E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0.78039999999999998</c:v>
                </c:pt>
                <c:pt idx="1">
                  <c:v>1.6207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CE-40A8-BC00-1A9CF08AB4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514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9C9C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E51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E514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9C9C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6127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16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7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280160"/>
            <a:ext cx="3291840" cy="3291840"/>
          </a:xfrm>
          <a:prstGeom prst="ellipse">
            <a:avLst/>
          </a:prstGeom>
          <a:solidFill>
            <a:srgbClr val="1C3A32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1C3A3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./icons/wheat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8165592" y="2651760"/>
            <a:ext cx="384048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228600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./icons/le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487168"/>
            <a:ext cx="420624" cy="4206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320040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YieldSense AI</a:t>
            </a: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713232" y="41605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8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&amp; Agricultural Productivity Forecasting System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13232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Platform  |  Weather + Soil + Farm Data  |  Data-Driven Decisions for Farmers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13232" y="5989320"/>
            <a:ext cx="29260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713232" y="61081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Milestone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280160"/>
            <a:ext cx="3291840" cy="3291840"/>
          </a:xfrm>
          <a:prstGeom prst="ellipse">
            <a:avLst/>
          </a:prstGeom>
          <a:solidFill>
            <a:srgbClr val="1C3A32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1C3A3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We’re Solving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 decisions are still largely reactive, not predictive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578608" cy="3794760"/>
          </a:xfrm>
          <a:prstGeom prst="roundRect">
            <a:avLst>
              <a:gd name="adj" fmla="val 3191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96112" y="2286000"/>
            <a:ext cx="566928" cy="566928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./icons/cloud_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42316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310896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Unpredictable Weather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41248" y="3840480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and temperature swings make it hard to plan planting, irrigation, and harvest timing.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74720" y="1965960"/>
            <a:ext cx="2578608" cy="3794760"/>
          </a:xfrm>
          <a:prstGeom prst="roundRect">
            <a:avLst>
              <a:gd name="adj" fmla="val 3191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730752" y="2286000"/>
            <a:ext cx="566928" cy="566928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./icons/triangle_excla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912" y="242316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75888" y="310896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 Variability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675888" y="3840480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levels, pH, and fertility differ across fields, leading to inconsistent yield outcomes.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309360" y="1965960"/>
            <a:ext cx="2578608" cy="3794760"/>
          </a:xfrm>
          <a:prstGeom prst="roundRect">
            <a:avLst>
              <a:gd name="adj" fmla="val 3191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565392" y="2286000"/>
            <a:ext cx="566928" cy="566928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./icons/t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242316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10528" y="310896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Waste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510528" y="3840480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data-driven guidance, water, fertilizer, and irrigation are often over- or under-applied.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144000" y="1965960"/>
            <a:ext cx="2578608" cy="3794760"/>
          </a:xfrm>
          <a:prstGeom prst="roundRect">
            <a:avLst>
              <a:gd name="adj" fmla="val 3191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9400032" y="2286000"/>
            <a:ext cx="566928" cy="566928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./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7192" y="242316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45168" y="310896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Decisions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9345168" y="3840480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estimate production after the fact instead of forecasting it in advance to plan better.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YieldSense AI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280160"/>
            <a:ext cx="3291840" cy="3291840"/>
          </a:xfrm>
          <a:prstGeom prst="ellipse">
            <a:avLst/>
          </a:prstGeom>
          <a:solidFill>
            <a:srgbClr val="1C3A32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1C3A3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platform that turns farm, weather, and soil data into forward-looking decisions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6492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YieldSense AI helps farmers and agricultural organizations estimate future crop production using historical farming data, weather conditions, and soil characteristics — combining crop yield forecasting, weather analysis, soil analysis, productivity prediction, and agricultural analytics in one centralized platform.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3758184"/>
            <a:ext cx="100584" cy="1005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96112" y="3703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farming decisions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4242816"/>
            <a:ext cx="100584" cy="1005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96112" y="418795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resource utilization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4727448"/>
            <a:ext cx="100584" cy="1005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96112" y="4672584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production uncertainty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5212080"/>
            <a:ext cx="100584" cy="1005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96112" y="5157216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agricultural productivity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43800" y="1828800"/>
            <a:ext cx="4023360" cy="4343400"/>
          </a:xfrm>
          <a:prstGeom prst="roundRect">
            <a:avLst>
              <a:gd name="adj" fmla="val 2273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836408" y="20299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36408" y="2542032"/>
            <a:ext cx="457200" cy="457200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0" descr=".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36" y="2651760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458200" y="256032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836408" y="3438144"/>
            <a:ext cx="457200" cy="457200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1" descr="./icons/lan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36" y="3547872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458200" y="3456432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Cooperatives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836408" y="4334256"/>
            <a:ext cx="457200" cy="457200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2" descr="./icons/buil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136" y="4443984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458200" y="4352544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Agribusiness Companies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7836408" y="5230368"/>
            <a:ext cx="457200" cy="457200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./icons/bulls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6136" y="5340096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458200" y="5248656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Agriculture Departments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YieldSense AI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280160"/>
            <a:ext cx="3291840" cy="3291840"/>
          </a:xfrm>
          <a:prstGeom prst="ellipse">
            <a:avLst/>
          </a:prstGeom>
          <a:solidFill>
            <a:srgbClr val="1C3A32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1C3A3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production-grade tools across the full pipeline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77824" y="2258568"/>
            <a:ext cx="566928" cy="566928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./icons/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3957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2402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645920" y="26060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FastAPI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16552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654296" y="2258568"/>
            <a:ext cx="566928" cy="566928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./icons/re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39572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22392" y="22402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422392" y="26060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/ Next.js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93024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430768" y="2258568"/>
            <a:ext cx="566928" cy="566928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.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239572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98864" y="22402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9198864" y="26060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&amp; MongoDB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40080" y="4005072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77824" y="4297680"/>
            <a:ext cx="566928" cy="566928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.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443484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7939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1645920" y="464515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XGBoost, TensorFlow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416552" y="4005072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4654296" y="4297680"/>
            <a:ext cx="566928" cy="566928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4" descr="./icons/githu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456" y="4434840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22392" y="427939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422392" y="464515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193024" y="4005072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8430768" y="4297680"/>
            <a:ext cx="566928" cy="566928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5" descr="./icons/clou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7928" y="4434840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98864" y="427939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&amp; Deploy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9198864" y="464515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YieldSense AI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280160"/>
            <a:ext cx="3291840" cy="3291840"/>
          </a:xfrm>
          <a:prstGeom prst="ellipse">
            <a:avLst/>
          </a:prstGeom>
          <a:solidFill>
            <a:srgbClr val="1C3A32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1C3A3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Platform Modules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modules covering the full farm-to-forecast workflow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651760" cy="2084832"/>
          </a:xfrm>
          <a:prstGeom prst="roundRect">
            <a:avLst>
              <a:gd name="adj" fmla="val 3947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41248" y="2093976"/>
            <a:ext cx="493776" cy="493776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./icons/user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21284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715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Management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172968"/>
            <a:ext cx="2286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profiles, farm data, role-based access.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93008" y="1874520"/>
            <a:ext cx="2651760" cy="2084832"/>
          </a:xfrm>
          <a:prstGeom prst="roundRect">
            <a:avLst>
              <a:gd name="adj" fmla="val 3947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694176" y="2093976"/>
            <a:ext cx="493776" cy="493776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.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048" y="221284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75888" y="2715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75888" y="3172968"/>
            <a:ext cx="2286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Crop, weather, soil, and historical farming records.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345936" y="1874520"/>
            <a:ext cx="2651760" cy="2084832"/>
          </a:xfrm>
          <a:prstGeom prst="roundRect">
            <a:avLst>
              <a:gd name="adj" fmla="val 3947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547104" y="2093976"/>
            <a:ext cx="493776" cy="493776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./icons/chart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976" y="2212848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28816" y="2715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Yield Prediction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528816" y="3172968"/>
            <a:ext cx="2286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forecasting, harvest &amp; production estimation.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198864" y="1874520"/>
            <a:ext cx="2651760" cy="2084832"/>
          </a:xfrm>
          <a:prstGeom prst="roundRect">
            <a:avLst>
              <a:gd name="adj" fmla="val 3947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9400032" y="2093976"/>
            <a:ext cx="493776" cy="493776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./icons/cloudSu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8904" y="2212848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81744" y="2715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Analysis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381744" y="3172968"/>
            <a:ext cx="2286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Rainfall, temperature &amp; climate trend assessment.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40080" y="4178808"/>
            <a:ext cx="2651760" cy="2084832"/>
          </a:xfrm>
          <a:prstGeom prst="roundRect">
            <a:avLst>
              <a:gd name="adj" fmla="val 3947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841248" y="4398264"/>
            <a:ext cx="493776" cy="493776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4" descr="./icons/flas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517136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22960" y="502005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 Analysis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822960" y="5477256"/>
            <a:ext cx="2286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Nutrient, pH &amp; fertility evaluation with suitability tips.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493008" y="4178808"/>
            <a:ext cx="2651760" cy="2084832"/>
          </a:xfrm>
          <a:prstGeom prst="roundRect">
            <a:avLst>
              <a:gd name="adj" fmla="val 3947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3694176" y="4398264"/>
            <a:ext cx="493776" cy="493776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5" descr="./icons/chartPi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3048" y="4517136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675888" y="502005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3675888" y="5477256"/>
            <a:ext cx="2286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reports, productivity &amp; seasonal performance views.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345936" y="4178808"/>
            <a:ext cx="2651760" cy="2084832"/>
          </a:xfrm>
          <a:prstGeom prst="roundRect">
            <a:avLst>
              <a:gd name="adj" fmla="val 3947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29"/>
          <p:cNvSpPr/>
          <p:nvPr/>
        </p:nvSpPr>
        <p:spPr>
          <a:xfrm>
            <a:off x="6547104" y="4398264"/>
            <a:ext cx="493776" cy="493776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6" descr="./icons/lightbul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5976" y="4517136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528816" y="502005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6528816" y="5477256"/>
            <a:ext cx="2286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planning, resource optimization, risk mitigation.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YieldSense AI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280160"/>
            <a:ext cx="3291840" cy="3291840"/>
          </a:xfrm>
          <a:prstGeom prst="ellipse">
            <a:avLst/>
          </a:prstGeom>
          <a:solidFill>
            <a:srgbClr val="1C3A32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1C3A3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farm data to actionable predictions, end to end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348740" y="3177540"/>
            <a:ext cx="9491472" cy="0"/>
          </a:xfrm>
          <a:prstGeom prst="line">
            <a:avLst/>
          </a:prstGeom>
          <a:noFill/>
          <a:ln w="19050">
            <a:solidFill>
              <a:srgbClr val="7FAE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C3A32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.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267004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2461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229868" y="2139696"/>
            <a:ext cx="237744" cy="23774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229868" y="21351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21992" y="24688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C3A32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.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620" y="267004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84832" y="32461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Engg.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811780" y="2139696"/>
            <a:ext cx="237744" cy="23774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2811780" y="21351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803904" y="24688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C3A32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./icons/cloudSu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6532" y="267004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666744" y="32461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393692" y="2139696"/>
            <a:ext cx="237744" cy="23774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4393692" y="21351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385816" y="24688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C3A32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./icons/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8444" y="2670048"/>
            <a:ext cx="512064" cy="5120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48656" y="32461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975604" y="2139696"/>
            <a:ext cx="237744" cy="23774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5975604" y="21351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967728" y="24688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C3A32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./icons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670048"/>
            <a:ext cx="512064" cy="51206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830568" y="32461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Prediction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(ML)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7557516" y="2139696"/>
            <a:ext cx="237744" cy="23774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4"/>
          <p:cNvSpPr/>
          <p:nvPr/>
        </p:nvSpPr>
        <p:spPr>
          <a:xfrm>
            <a:off x="7557516" y="21351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8549640" y="24688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C3A32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5" descr="./icons/lightbu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2268" y="2670048"/>
            <a:ext cx="512064" cy="51206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12480" y="32461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Risk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9139428" y="2139696"/>
            <a:ext cx="237744" cy="23774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28"/>
          <p:cNvSpPr/>
          <p:nvPr/>
        </p:nvSpPr>
        <p:spPr>
          <a:xfrm>
            <a:off x="9139428" y="21351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10131552" y="24688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C3A32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6" descr="./icons/chartPi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84180" y="2670048"/>
            <a:ext cx="512064" cy="51206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9994392" y="32461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10721340" y="2139696"/>
            <a:ext cx="237744" cy="23774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2"/>
          <p:cNvSpPr/>
          <p:nvPr/>
        </p:nvSpPr>
        <p:spPr>
          <a:xfrm>
            <a:off x="10721340" y="21351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640080" y="452628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(auth, routing, rate limiting) sits in front of the pipeline; a PostgreSQL / MongoDB data layer and cloud deployment on Render support the platform underneath.</a:t>
            </a:r>
            <a:endParaRPr lang="en-US" sz="1150" dirty="0"/>
          </a:p>
        </p:txBody>
      </p:sp>
      <p:sp>
        <p:nvSpPr>
          <p:cNvPr id="43" name="Shape 34"/>
          <p:cNvSpPr/>
          <p:nvPr/>
        </p:nvSpPr>
        <p:spPr>
          <a:xfrm>
            <a:off x="1339596" y="5257800"/>
            <a:ext cx="402336" cy="402336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4" name="Image 7" descr="./icons/serv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1036" y="5349240"/>
            <a:ext cx="219456" cy="219456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1842516" y="52578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3717036" y="5257800"/>
            <a:ext cx="402336" cy="402336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7" name="Image 8" descr=".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476" y="5349240"/>
            <a:ext cx="219456" cy="21945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4219956" y="52578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49" name="Shape 38"/>
          <p:cNvSpPr/>
          <p:nvPr/>
        </p:nvSpPr>
        <p:spPr>
          <a:xfrm>
            <a:off x="6094476" y="5257800"/>
            <a:ext cx="402336" cy="402336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0" name="Image 9" descr="./icons/clou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5916" y="5349240"/>
            <a:ext cx="219456" cy="219456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6597396" y="52578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00" dirty="0"/>
          </a:p>
        </p:txBody>
      </p:sp>
      <p:sp>
        <p:nvSpPr>
          <p:cNvPr id="55" name="Text 4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YieldSense AI</a:t>
            </a:r>
            <a:endParaRPr lang="en-US" sz="900" dirty="0"/>
          </a:p>
        </p:txBody>
      </p:sp>
      <p:sp>
        <p:nvSpPr>
          <p:cNvPr id="56" name="Text 4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280160"/>
            <a:ext cx="3291840" cy="3291840"/>
          </a:xfrm>
          <a:prstGeom prst="ellipse">
            <a:avLst/>
          </a:prstGeom>
          <a:solidFill>
            <a:srgbClr val="1C3A32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1C3A3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 built and tested end-to-end; production hardening in progress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96112" y="2176272"/>
            <a:ext cx="457200" cy="457200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.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27685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194560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&amp; Working (MVP)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96112" y="2907792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115568" y="2816352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with /api/predict, /api/weather-analysis, /api/soil-analysis endpoints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96112" y="357530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1115568" y="3483864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engineering pipeline (region, crop, weather, soil, farm inputs)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96112" y="4242816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115568" y="4151376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yield-prediction model trained on a 4,000-row agricultural dataset (R² 0.988)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96112" y="4910328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1115568" y="4818888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recommendation &amp; risk-level assessment logic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96112" y="5577840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1115568" y="548640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dashboard (web form → live prediction) calling the API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17920" y="192024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6473952" y="2176272"/>
            <a:ext cx="457200" cy="457200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1" descr="./icons/hourg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2276856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059168" y="2194560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Next (per Milestone Plan)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473952" y="2907792"/>
            <a:ext cx="91440" cy="91440"/>
          </a:xfrm>
          <a:prstGeom prst="ellipse">
            <a:avLst/>
          </a:prstGeom>
          <a:solidFill>
            <a:srgbClr val="E8C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6693408" y="2816352"/>
            <a:ext cx="4507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&amp; role-based access (JWT + PostgreSQL)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473952" y="3575304"/>
            <a:ext cx="91440" cy="91440"/>
          </a:xfrm>
          <a:prstGeom prst="ellipse">
            <a:avLst/>
          </a:prstGeom>
          <a:solidFill>
            <a:srgbClr val="E8C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6693408" y="3483864"/>
            <a:ext cx="4507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synthetic dataset for FAOSTAT / USDA / Kaggle real-world data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473952" y="4242816"/>
            <a:ext cx="91440" cy="91440"/>
          </a:xfrm>
          <a:prstGeom prst="ellipse">
            <a:avLst/>
          </a:prstGeom>
          <a:solidFill>
            <a:srgbClr val="E8C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6693408" y="4151376"/>
            <a:ext cx="4507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React / Next.js analytics dashboard with trend &amp; comparison charts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473952" y="4910328"/>
            <a:ext cx="91440" cy="91440"/>
          </a:xfrm>
          <a:prstGeom prst="ellipse">
            <a:avLst/>
          </a:prstGeom>
          <a:solidFill>
            <a:srgbClr val="E8C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6693408" y="4818888"/>
            <a:ext cx="4507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prediction history in PostgreSQL / MongoDB for the dashboard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473952" y="5577840"/>
            <a:ext cx="91440" cy="91440"/>
          </a:xfrm>
          <a:prstGeom prst="ellipse">
            <a:avLst/>
          </a:prstGeom>
          <a:solidFill>
            <a:srgbClr val="E8C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6693408" y="5486400"/>
            <a:ext cx="4507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cloud deployment on Render (render.com)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YieldSense AI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280160"/>
            <a:ext cx="3291840" cy="3291840"/>
          </a:xfrm>
          <a:prstGeom prst="ellipse">
            <a:avLst/>
          </a:prstGeom>
          <a:solidFill>
            <a:srgbClr val="1C3A32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1C3A3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regressor, validated on held-out data (785 test rows)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98.93%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22783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 on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83864" y="19659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21024" y="21488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21024" y="28803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(t/ha)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21024" y="322783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27648" y="19659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64808" y="21488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64808" y="28803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(t/ha)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64808" y="322783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71432" y="19659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308592" y="21488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3,140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308592" y="28803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08592" y="322783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4,000 total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records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4251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Metrics (tonnes / hectare)</a:t>
            </a:r>
            <a:endParaRPr lang="en-US" sz="12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40080" y="4572000"/>
          <a:ext cx="530352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6263640" y="4251960"/>
            <a:ext cx="5285232" cy="2194560"/>
          </a:xfrm>
          <a:prstGeom prst="roundRect">
            <a:avLst>
              <a:gd name="adj" fmla="val 4167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492240" y="44074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on Accuracy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92240" y="4754880"/>
            <a:ext cx="4846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XGBoost model now runs live behind the FastAPI backend and is confirmed via the root health-check endpoint (see next slide). These figures come from a synthetic development dataset with a clean underlying formula, so accuracy is expected to be higher than on real agricultural data — real-world data will naturally raise the error somewhat.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YieldSense AI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280160"/>
            <a:ext cx="3291840" cy="3291840"/>
          </a:xfrm>
          <a:prstGeom prst="ellipse">
            <a:avLst/>
          </a:prstGeom>
          <a:solidFill>
            <a:srgbClr val="1C3A32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1C3A3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Preview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deployed UI — farm, weather &amp; soil inputs feeding a live forecast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11274552" cy="4709160"/>
          </a:xfrm>
          <a:prstGeom prst="roundRect">
            <a:avLst>
              <a:gd name="adj" fmla="val 1359"/>
            </a:avLst>
          </a:prstGeom>
          <a:solidFill>
            <a:srgbClr val="E7E2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11274552" cy="365760"/>
          </a:xfrm>
          <a:prstGeom prst="roundRect">
            <a:avLst>
              <a:gd name="adj" fmla="val 17500"/>
            </a:avLst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21792" y="1664208"/>
            <a:ext cx="100584" cy="100584"/>
          </a:xfrm>
          <a:prstGeom prst="ellipse">
            <a:avLst/>
          </a:prstGeom>
          <a:solidFill>
            <a:srgbClr val="E869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00584" cy="100584"/>
          </a:xfrm>
          <a:prstGeom prst="ellipse">
            <a:avLst/>
          </a:prstGeom>
          <a:solidFill>
            <a:srgbClr val="E8C2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24128" y="1664208"/>
            <a:ext cx="100584" cy="100584"/>
          </a:xfrm>
          <a:prstGeom prst="ellipse">
            <a:avLst/>
          </a:prstGeom>
          <a:solidFill>
            <a:srgbClr val="6FB56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280160" y="1536192"/>
            <a:ext cx="10177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4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C:/Users/USER/Downloads/yieldsense-ai/yieldsense-ai/frontend/index.html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2103120"/>
            <a:ext cx="6173297" cy="3941064"/>
          </a:xfrm>
          <a:prstGeom prst="roundRect">
            <a:avLst>
              <a:gd name="adj" fmla="val 139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77824" y="2231136"/>
            <a:ext cx="57343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7A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 &amp; field inputs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77824" y="2578608"/>
            <a:ext cx="573438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77824" y="2743200"/>
            <a:ext cx="5734385" cy="182880"/>
          </a:xfrm>
          <a:prstGeom prst="roundRect">
            <a:avLst>
              <a:gd name="adj" fmla="val 15000"/>
            </a:avLst>
          </a:prstGeom>
          <a:solidFill>
            <a:srgbClr val="FBF8F1"/>
          </a:solidFill>
          <a:ln w="9525">
            <a:solidFill>
              <a:srgbClr val="D9D2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50976" y="2743200"/>
            <a:ext cx="558808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77824" y="3012948"/>
            <a:ext cx="277575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77824" y="3177540"/>
            <a:ext cx="2775753" cy="182880"/>
          </a:xfrm>
          <a:prstGeom prst="roundRect">
            <a:avLst>
              <a:gd name="adj" fmla="val 15000"/>
            </a:avLst>
          </a:prstGeom>
          <a:solidFill>
            <a:srgbClr val="FBF8F1"/>
          </a:solidFill>
          <a:ln w="9525">
            <a:solidFill>
              <a:srgbClr val="D9D2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50976" y="3177540"/>
            <a:ext cx="262944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36457" y="3012948"/>
            <a:ext cx="277575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836457" y="3177540"/>
            <a:ext cx="2775753" cy="182880"/>
          </a:xfrm>
          <a:prstGeom prst="roundRect">
            <a:avLst>
              <a:gd name="adj" fmla="val 15000"/>
            </a:avLst>
          </a:prstGeom>
          <a:solidFill>
            <a:srgbClr val="FBF8F1"/>
          </a:solidFill>
          <a:ln w="9525">
            <a:solidFill>
              <a:srgbClr val="D9D2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909609" y="3177540"/>
            <a:ext cx="262944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77824" y="3447288"/>
            <a:ext cx="277575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(mm)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77824" y="3611880"/>
            <a:ext cx="2775753" cy="182880"/>
          </a:xfrm>
          <a:prstGeom prst="roundRect">
            <a:avLst>
              <a:gd name="adj" fmla="val 15000"/>
            </a:avLst>
          </a:prstGeom>
          <a:solidFill>
            <a:srgbClr val="FBF8F1"/>
          </a:solidFill>
          <a:ln w="9525">
            <a:solidFill>
              <a:srgbClr val="D9D2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50976" y="3611880"/>
            <a:ext cx="262944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36457" y="3447288"/>
            <a:ext cx="277575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temperature (°C)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836457" y="3611880"/>
            <a:ext cx="2775753" cy="182880"/>
          </a:xfrm>
          <a:prstGeom prst="roundRect">
            <a:avLst>
              <a:gd name="adj" fmla="val 15000"/>
            </a:avLst>
          </a:prstGeom>
          <a:solidFill>
            <a:srgbClr val="FBF8F1"/>
          </a:solidFill>
          <a:ln w="9525">
            <a:solidFill>
              <a:srgbClr val="D9D2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909609" y="3611880"/>
            <a:ext cx="262944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77824" y="3881628"/>
            <a:ext cx="277575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(%)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77824" y="4046220"/>
            <a:ext cx="2775753" cy="182880"/>
          </a:xfrm>
          <a:prstGeom prst="roundRect">
            <a:avLst>
              <a:gd name="adj" fmla="val 15000"/>
            </a:avLst>
          </a:prstGeom>
          <a:solidFill>
            <a:srgbClr val="FBF8F1"/>
          </a:solidFill>
          <a:ln w="9525">
            <a:solidFill>
              <a:srgbClr val="D9D2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50976" y="4046220"/>
            <a:ext cx="262944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36457" y="3881628"/>
            <a:ext cx="277575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area (%)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836457" y="4046220"/>
            <a:ext cx="2775753" cy="182880"/>
          </a:xfrm>
          <a:prstGeom prst="roundRect">
            <a:avLst>
              <a:gd name="adj" fmla="val 15000"/>
            </a:avLst>
          </a:prstGeom>
          <a:solidFill>
            <a:srgbClr val="FBF8F1"/>
          </a:solidFill>
          <a:ln w="9525">
            <a:solidFill>
              <a:srgbClr val="D9D2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909609" y="4046220"/>
            <a:ext cx="262944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77824" y="4315968"/>
            <a:ext cx="277575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pH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77824" y="4480560"/>
            <a:ext cx="2775753" cy="182880"/>
          </a:xfrm>
          <a:prstGeom prst="roundRect">
            <a:avLst>
              <a:gd name="adj" fmla="val 15000"/>
            </a:avLst>
          </a:prstGeom>
          <a:solidFill>
            <a:srgbClr val="FBF8F1"/>
          </a:solidFill>
          <a:ln w="9525">
            <a:solidFill>
              <a:srgbClr val="D9D2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50976" y="4480560"/>
            <a:ext cx="262944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836457" y="4315968"/>
            <a:ext cx="277575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(kg/ha)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836457" y="4480560"/>
            <a:ext cx="2775753" cy="182880"/>
          </a:xfrm>
          <a:prstGeom prst="roundRect">
            <a:avLst>
              <a:gd name="adj" fmla="val 15000"/>
            </a:avLst>
          </a:prstGeom>
          <a:solidFill>
            <a:srgbClr val="FBF8F1"/>
          </a:solidFill>
          <a:ln w="9525">
            <a:solidFill>
              <a:srgbClr val="D9D2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909609" y="4480560"/>
            <a:ext cx="262944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77824" y="4750308"/>
            <a:ext cx="277575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nitrogen (kg/ha)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77824" y="4914900"/>
            <a:ext cx="2775753" cy="182880"/>
          </a:xfrm>
          <a:prstGeom prst="roundRect">
            <a:avLst>
              <a:gd name="adj" fmla="val 15000"/>
            </a:avLst>
          </a:prstGeom>
          <a:solidFill>
            <a:srgbClr val="FBF8F1"/>
          </a:solidFill>
          <a:ln w="9525">
            <a:solidFill>
              <a:srgbClr val="D9D2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950976" y="4914900"/>
            <a:ext cx="262944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36457" y="4750308"/>
            <a:ext cx="277575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phosphorus (kg/ha)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836457" y="4914900"/>
            <a:ext cx="2775753" cy="182880"/>
          </a:xfrm>
          <a:prstGeom prst="roundRect">
            <a:avLst>
              <a:gd name="adj" fmla="val 15000"/>
            </a:avLst>
          </a:prstGeom>
          <a:solidFill>
            <a:srgbClr val="FBF8F1"/>
          </a:solidFill>
          <a:ln w="9525">
            <a:solidFill>
              <a:srgbClr val="D9D2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909609" y="4914900"/>
            <a:ext cx="262944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77824" y="5184648"/>
            <a:ext cx="277575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potassium (kg/ha)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77824" y="5349240"/>
            <a:ext cx="2775753" cy="182880"/>
          </a:xfrm>
          <a:prstGeom prst="roundRect">
            <a:avLst>
              <a:gd name="adj" fmla="val 15000"/>
            </a:avLst>
          </a:prstGeom>
          <a:solidFill>
            <a:srgbClr val="FBF8F1"/>
          </a:solidFill>
          <a:ln w="9525">
            <a:solidFill>
              <a:srgbClr val="D9D2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950976" y="5349240"/>
            <a:ext cx="262944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836457" y="5184648"/>
            <a:ext cx="277575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area (ha)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836457" y="5349240"/>
            <a:ext cx="2775753" cy="182880"/>
          </a:xfrm>
          <a:prstGeom prst="roundRect">
            <a:avLst>
              <a:gd name="adj" fmla="val 15000"/>
            </a:avLst>
          </a:prstGeom>
          <a:solidFill>
            <a:srgbClr val="FBF8F1"/>
          </a:solidFill>
          <a:ln w="9525">
            <a:solidFill>
              <a:srgbClr val="D9D2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909609" y="5349240"/>
            <a:ext cx="262944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77824" y="5673852"/>
            <a:ext cx="1691640" cy="292608"/>
          </a:xfrm>
          <a:prstGeom prst="roundRect">
            <a:avLst>
              <a:gd name="adj" fmla="val 15625"/>
            </a:avLst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877824" y="567385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yield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060265" y="2103120"/>
            <a:ext cx="4470319" cy="3941064"/>
          </a:xfrm>
          <a:prstGeom prst="roundRect">
            <a:avLst>
              <a:gd name="adj" fmla="val 139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279721" y="2231136"/>
            <a:ext cx="403140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7A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7279721" y="2606040"/>
            <a:ext cx="4031407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form and click "Predict yield" to see a forecast here. Make sure the backend is running (</a:t>
            </a:r>
            <a:r>
              <a:rPr lang="en-US" sz="900" dirty="0">
                <a:solidFill>
                  <a:srgbClr val="A88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main:app --reload</a:t>
            </a:r>
            <a:r>
              <a:rPr lang="en-US" sz="90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the model has been trained.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YieldSense AI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280160"/>
            <a:ext cx="3291840" cy="3291840"/>
          </a:xfrm>
          <a:prstGeom prst="ellipse">
            <a:avLst/>
          </a:prstGeom>
          <a:solidFill>
            <a:srgbClr val="1C3A32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1C3A3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API Response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FastAPI backend, confirmed healthy and serving the trained XGBoost model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6766560" cy="4251960"/>
          </a:xfrm>
          <a:prstGeom prst="roundRect">
            <a:avLst>
              <a:gd name="adj" fmla="val 1720"/>
            </a:avLst>
          </a:prstGeom>
          <a:solidFill>
            <a:srgbClr val="0E1F1A"/>
          </a:solidFill>
          <a:ln w="12700">
            <a:solidFill>
              <a:srgbClr val="2E51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6766560" cy="365760"/>
          </a:xfrm>
          <a:prstGeom prst="roundRect">
            <a:avLst>
              <a:gd name="adj" fmla="val 20000"/>
            </a:avLst>
          </a:prstGeom>
          <a:solidFill>
            <a:srgbClr val="234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04672" y="2093976"/>
            <a:ext cx="100584" cy="100584"/>
          </a:xfrm>
          <a:prstGeom prst="ellipse">
            <a:avLst/>
          </a:prstGeom>
          <a:solidFill>
            <a:srgbClr val="E869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05840" y="2093976"/>
            <a:ext cx="100584" cy="100584"/>
          </a:xfrm>
          <a:prstGeom prst="ellipse">
            <a:avLst/>
          </a:prstGeom>
          <a:solidFill>
            <a:srgbClr val="E8C2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207008" y="2093976"/>
            <a:ext cx="100584" cy="100584"/>
          </a:xfrm>
          <a:prstGeom prst="ellipse">
            <a:avLst/>
          </a:prstGeom>
          <a:solidFill>
            <a:srgbClr val="6FB56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463040" y="19659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C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https://sridhardivya-yieldsense-ai.onrender.com/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2496312"/>
            <a:ext cx="61264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C8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802636"/>
            <a:ext cx="61264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5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</a:t>
            </a:r>
            <a:r>
              <a:rPr lang="en-US" sz="1150" dirty="0">
                <a:solidFill>
                  <a:srgbClr val="E8C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"ok"</a:t>
            </a:r>
            <a:r>
              <a:rPr lang="en-US" sz="1150" dirty="0">
                <a:solidFill>
                  <a:srgbClr val="6C8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3108960"/>
            <a:ext cx="61264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5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"service": </a:t>
            </a:r>
            <a:r>
              <a:rPr lang="en-US" sz="1150" dirty="0">
                <a:solidFill>
                  <a:srgbClr val="E8C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"YieldSense AI API"</a:t>
            </a:r>
            <a:r>
              <a:rPr lang="en-US" sz="1150" dirty="0">
                <a:solidFill>
                  <a:srgbClr val="6C8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3415284"/>
            <a:ext cx="61264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5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"model_metrics": {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721608"/>
            <a:ext cx="61264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5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"model": </a:t>
            </a:r>
            <a:r>
              <a:rPr lang="en-US" sz="1150" dirty="0">
                <a:solidFill>
                  <a:srgbClr val="E8C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"XGBoost"</a:t>
            </a:r>
            <a:r>
              <a:rPr lang="en-US" sz="1150" dirty="0">
                <a:solidFill>
                  <a:srgbClr val="6C8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4027932"/>
            <a:ext cx="61264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5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"mae": </a:t>
            </a:r>
            <a:r>
              <a:rPr lang="en-US" sz="1150" dirty="0">
                <a:solidFill>
                  <a:srgbClr val="7FA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0.768</a:t>
            </a:r>
            <a:r>
              <a:rPr lang="en-US" sz="1150" dirty="0">
                <a:solidFill>
                  <a:srgbClr val="6C8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4334256"/>
            <a:ext cx="61264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5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"rmse": </a:t>
            </a:r>
            <a:r>
              <a:rPr lang="en-US" sz="1150" dirty="0">
                <a:solidFill>
                  <a:srgbClr val="7FA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1.5953</a:t>
            </a:r>
            <a:r>
              <a:rPr lang="en-US" sz="1150" dirty="0">
                <a:solidFill>
                  <a:srgbClr val="6C8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0120" y="4640580"/>
            <a:ext cx="61264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5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"r2": </a:t>
            </a:r>
            <a:r>
              <a:rPr lang="en-US" sz="1150" dirty="0">
                <a:solidFill>
                  <a:srgbClr val="7FA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0.9893</a:t>
            </a:r>
            <a:r>
              <a:rPr lang="en-US" sz="1150" dirty="0">
                <a:solidFill>
                  <a:srgbClr val="6C8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" y="4946904"/>
            <a:ext cx="61264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5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"n_train": </a:t>
            </a:r>
            <a:r>
              <a:rPr lang="en-US" sz="1150" dirty="0">
                <a:solidFill>
                  <a:srgbClr val="7FA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3168</a:t>
            </a:r>
            <a:r>
              <a:rPr lang="en-US" sz="1150" dirty="0">
                <a:solidFill>
                  <a:srgbClr val="6C8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5253228"/>
            <a:ext cx="61264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5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"n_test</a:t>
            </a:r>
            <a:r>
              <a:rPr lang="en-US" sz="1150">
                <a:solidFill>
                  <a:srgbClr val="F5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</a:t>
            </a:r>
            <a:r>
              <a:rPr lang="en-US" sz="1150">
                <a:solidFill>
                  <a:srgbClr val="7FA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0120" y="5559552"/>
            <a:ext cx="61264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C8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0120" y="5865876"/>
            <a:ext cx="61264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C8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0" y="2011680"/>
            <a:ext cx="3867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Confirms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772400" y="2560320"/>
            <a:ext cx="420624" cy="420624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0" descr=".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984" y="2660904"/>
            <a:ext cx="219456" cy="21945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339328" y="2542032"/>
            <a:ext cx="3273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is live and healthy at the root endpoint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772400" y="3429000"/>
            <a:ext cx="420624" cy="420624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1" descr=".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4" y="3529584"/>
            <a:ext cx="219456" cy="21945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339328" y="3410712"/>
            <a:ext cx="3273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model is now XGBoost, not the sklearn fallback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7772400" y="4297680"/>
            <a:ext cx="420624" cy="420624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2" descr="./icons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984" y="4398264"/>
            <a:ext cx="219456" cy="21945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339328" y="4279392"/>
            <a:ext cx="3273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of 98.82% on the held-out test split (785 rows)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7772400" y="5166360"/>
            <a:ext cx="420624" cy="420624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3" descr="./icons/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2984" y="5266944"/>
            <a:ext cx="219456" cy="21945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339328" y="5148072"/>
            <a:ext cx="3273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are computed once at training time and served on every request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YieldSense AI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280160"/>
            <a:ext cx="3291840" cy="3291840"/>
          </a:xfrm>
          <a:prstGeom prst="ellipse">
            <a:avLst/>
          </a:prstGeom>
          <a:solidFill>
            <a:srgbClr val="1C3A32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1C3A3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8-Week Roadmap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milestones from project setup to live deployment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96112" y="1691640"/>
            <a:ext cx="8668512" cy="0"/>
          </a:xfrm>
          <a:prstGeom prst="line">
            <a:avLst/>
          </a:prstGeom>
          <a:noFill/>
          <a:ln w="19050">
            <a:solidFill>
              <a:srgbClr val="7FAE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475488" cy="47548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8368" y="15453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2670048" cy="3566160"/>
          </a:xfrm>
          <a:prstGeom prst="roundRect">
            <a:avLst>
              <a:gd name="adj" fmla="val 3082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1248" y="2350008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269748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Initialization &amp; Core Setup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3566160"/>
            <a:ext cx="22677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DB schema, auth, data collection &amp; preprocessing.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47872" y="1554480"/>
            <a:ext cx="475488" cy="47548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47872" y="15453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529584" y="2148840"/>
            <a:ext cx="2670048" cy="3566160"/>
          </a:xfrm>
          <a:prstGeom prst="roundRect">
            <a:avLst>
              <a:gd name="adj" fmla="val 3082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730752" y="2350008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30752" y="269748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Yield Prediction &amp;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30752" y="3566160"/>
            <a:ext cx="22677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ML models, build weather &amp; soil analysis modules.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37376" y="1554480"/>
            <a:ext cx="475488" cy="47548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37376" y="15453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19088" y="2148840"/>
            <a:ext cx="2670048" cy="3566160"/>
          </a:xfrm>
          <a:prstGeom prst="roundRect">
            <a:avLst>
              <a:gd name="adj" fmla="val 3082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20256" y="2350008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0256" y="269748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Recommendations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20256" y="3566160"/>
            <a:ext cx="22677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dashboard, reporting, recommendation &amp; risk engine.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326880" y="1554480"/>
            <a:ext cx="475488" cy="47548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326880" y="15453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308592" y="2148840"/>
            <a:ext cx="2670048" cy="3566160"/>
          </a:xfrm>
          <a:prstGeom prst="roundRect">
            <a:avLst>
              <a:gd name="adj" fmla="val 3082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509760" y="2350008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09760" y="269748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Deployment &amp; Docs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509760" y="3566160"/>
            <a:ext cx="22677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models, deploy to Render, finalize documentation.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YieldSense 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280160"/>
            <a:ext cx="3291840" cy="3291840"/>
          </a:xfrm>
          <a:prstGeom prst="ellipse">
            <a:avLst/>
          </a:prstGeom>
          <a:solidFill>
            <a:srgbClr val="1C3A32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1C3A3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current MVP — the path to a production-ready platform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59536" y="2139696"/>
            <a:ext cx="475488" cy="475488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.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24942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9536" y="2724912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Roles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9536" y="3090672"/>
            <a:ext cx="3127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 with PostgreSQL-backed users, farms, and role-based access control.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25696" y="19202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645152" y="2139696"/>
            <a:ext cx="475488" cy="475488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.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24942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2724912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Agricultural Data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45152" y="3090672"/>
            <a:ext cx="3127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synthetic data for FAOSTAT, USDA, and Kaggle crop-yield datasets.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211312" y="19202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430768" y="2139696"/>
            <a:ext cx="475488" cy="475488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./icons/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224942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30768" y="2724912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React / Next.js UI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430768" y="3090672"/>
            <a:ext cx="3127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analytics dashboard with trend charts, farm comparisons, and history.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40080" y="4105656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59536" y="4325112"/>
            <a:ext cx="475488" cy="475488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.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443484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59536" y="4910328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Model Tuning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59536" y="5276088"/>
            <a:ext cx="3127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search and richer agronomic features for higher real-world accuracy.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425696" y="4105656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4645152" y="4325112"/>
            <a:ext cx="475488" cy="475488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4" descr="./icons/cloudUplo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434840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645152" y="4910328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Weather Integration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645152" y="5276088"/>
            <a:ext cx="3127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/ NOAA feeds so forecasts update with real-time conditions.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211312" y="4105656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8430768" y="4325112"/>
            <a:ext cx="475488" cy="475488"/>
          </a:xfrm>
          <a:prstGeom prst="ellipse">
            <a:avLst/>
          </a:prstGeom>
          <a:solidFill>
            <a:srgbClr val="4C7A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5" descr="./icons/clou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0496" y="4434840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30768" y="4910328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8430768" y="5276088"/>
            <a:ext cx="3127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 with monitoring &amp; CI/CD.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YieldSense AI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280160"/>
            <a:ext cx="3291840" cy="3291840"/>
          </a:xfrm>
          <a:prstGeom prst="ellipse">
            <a:avLst/>
          </a:prstGeom>
          <a:solidFill>
            <a:srgbClr val="1C3A32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1C3A3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./icons/wheat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8165592" y="-731520"/>
            <a:ext cx="384048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237744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./icons/le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578608"/>
            <a:ext cx="420624" cy="4206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33375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8" name="Text 4"/>
          <p:cNvSpPr/>
          <p:nvPr/>
        </p:nvSpPr>
        <p:spPr>
          <a:xfrm>
            <a:off x="713232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— YieldSense AI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13232" y="5029200"/>
            <a:ext cx="384048" cy="384048"/>
          </a:xfrm>
          <a:prstGeom prst="ellipse">
            <a:avLst/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2" descr="./icons/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12064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07008" y="50292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 — available on request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713232" y="5532120"/>
            <a:ext cx="384048" cy="384048"/>
          </a:xfrm>
          <a:prstGeom prst="ellipse">
            <a:avLst/>
          </a:prstGeom>
          <a:solidFill>
            <a:srgbClr val="1C3A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3" descr="./icons/envelo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562356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07008" y="55321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Contact — available on request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1214</Words>
  <Application>Microsoft Office PowerPoint</Application>
  <PresentationFormat>Widescreen</PresentationFormat>
  <Paragraphs>242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3</cp:revision>
  <dcterms:created xsi:type="dcterms:W3CDTF">2026-09-09T07:16:23Z</dcterms:created>
  <dcterms:modified xsi:type="dcterms:W3CDTF">2026-09-10T11:04:11Z</dcterms:modified>
</cp:coreProperties>
</file>